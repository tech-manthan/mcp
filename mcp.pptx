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1">
              <a:satOff val="-1029"/>
              <a:lumOff val="-15629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168224"/>
              <a:satOff val="18883"/>
              <a:lumOff val="-3184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68224"/>
                  <a:satOff val="18883"/>
                  <a:lumOff val="-31844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DBB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 b="def" i="def"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 b="def" i="def"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y abstract curve and line"/>
          <p:cNvSpPr/>
          <p:nvPr>
            <p:ph type="pic" idx="21"/>
          </p:nvPr>
        </p:nvSpPr>
        <p:spPr>
          <a:xfrm>
            <a:off x="-50800" y="-1828800"/>
            <a:ext cx="24574500" cy="1737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rridor of an open-air concrete structure under a partly cloudy sky"/>
          <p:cNvSpPr/>
          <p:nvPr>
            <p:ph type="pic" idx="21"/>
          </p:nvPr>
        </p:nvSpPr>
        <p:spPr>
          <a:xfrm>
            <a:off x="8140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View through a mesh-like ceiling under a blue sky"/>
          <p:cNvSpPr/>
          <p:nvPr>
            <p:ph type="pic" idx="22"/>
          </p:nvPr>
        </p:nvSpPr>
        <p:spPr>
          <a:xfrm>
            <a:off x="8140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644"/>
            <a:ext cx="21971000" cy="40894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lack and white close-up of curved pieces of paper"/>
          <p:cNvSpPr/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Grey disc against a grey background"/>
          <p:cNvSpPr/>
          <p:nvPr>
            <p:ph type="pic" sz="quarter" idx="22"/>
          </p:nvPr>
        </p:nvSpPr>
        <p:spPr>
          <a:xfrm>
            <a:off x="14897100" y="3632200"/>
            <a:ext cx="9131300" cy="645707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Abstract image of two grey discs intersecting"/>
          <p:cNvSpPr/>
          <p:nvPr>
            <p:ph type="pic" sz="half" idx="23"/>
          </p:nvPr>
        </p:nvSpPr>
        <p:spPr>
          <a:xfrm>
            <a:off x="-749300" y="3632200"/>
            <a:ext cx="113030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lack and white close-up of woven texture"/>
          <p:cNvSpPr/>
          <p:nvPr>
            <p:ph type="pic" idx="21"/>
          </p:nvPr>
        </p:nvSpPr>
        <p:spPr>
          <a:xfrm>
            <a:off x="-38100" y="-1293994"/>
            <a:ext cx="24447500" cy="1629551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32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anthan Sharm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Manthan Sharma</a:t>
            </a:r>
          </a:p>
        </p:txBody>
      </p:sp>
      <p:sp>
        <p:nvSpPr>
          <p:cNvPr id="172" name="Model Context Protocol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 Context Protocol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75" name="Problem &amp; Solution - Birth of MCP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438911" indent="-438911" defTabSz="2340805">
              <a:spcBef>
                <a:spcPts val="4500"/>
              </a:spcBef>
              <a:defRPr sz="3839"/>
            </a:pPr>
            <a:r>
              <a:t>Problem &amp; Solution - Birth of MCP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What is MCP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MCP Architecture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Concepts of MCP Architecture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MCP Protocol Basic Flow in a AI Application 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Security &amp; Trust Model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oblem Layer 1 - AI in Isol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Layer 1 - AI in Isolation </a:t>
            </a:r>
          </a:p>
        </p:txBody>
      </p:sp>
      <p:sp>
        <p:nvSpPr>
          <p:cNvPr id="178" name="LLMs are Powerful but they are locked in Conversation Box…"/>
          <p:cNvSpPr txBox="1"/>
          <p:nvPr>
            <p:ph type="body" idx="1"/>
          </p:nvPr>
        </p:nvSpPr>
        <p:spPr>
          <a:xfrm>
            <a:off x="1206500" y="3574842"/>
            <a:ext cx="21971000" cy="7867624"/>
          </a:xfrm>
          <a:prstGeom prst="rect">
            <a:avLst/>
          </a:prstGeom>
        </p:spPr>
        <p:txBody>
          <a:bodyPr/>
          <a:lstStyle/>
          <a:p>
            <a:pPr/>
            <a:r>
              <a:t>LLMs are Powerful but they are locked in Conversation Box</a:t>
            </a:r>
          </a:p>
          <a:p>
            <a:pPr/>
            <a:r>
              <a:t>They can’t access your files, database, APIs, or tools by default</a:t>
            </a:r>
          </a:p>
          <a:p>
            <a:pPr/>
            <a:r>
              <a:t>No standard way for AI to interact with external systems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artial Fix - Developers built custom Too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23821">
              <a:defRPr spc="-83" sz="8300"/>
            </a:lvl1pPr>
          </a:lstStyle>
          <a:p>
            <a:pPr/>
            <a:r>
              <a:t>Partial Fix - Developers built custom Tools</a:t>
            </a:r>
          </a:p>
        </p:txBody>
      </p:sp>
      <p:sp>
        <p:nvSpPr>
          <p:cNvPr id="181" name="Developers solved this by writing custom integrations/tools for A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Developers solved this by writing custom integrations/tools for AI </a:t>
            </a:r>
          </a:p>
          <a:p>
            <a:pPr/>
            <a:r>
              <a:t>AI could now access files, search the web, query databases… </a:t>
            </a:r>
            <a:br/>
            <a:br/>
            <a:r>
              <a:t>                                       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  but this created NEW problems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roblem Layer 2 — Tools themselves became a me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609303">
              <a:defRPr spc="-66" sz="6600"/>
            </a:lvl1pPr>
          </a:lstStyle>
          <a:p>
            <a:pPr/>
            <a:r>
              <a:t>Problem Layer 2 — Tools themselves became a mess</a:t>
            </a:r>
          </a:p>
        </p:txBody>
      </p:sp>
      <p:sp>
        <p:nvSpPr>
          <p:cNvPr id="184" name="Same tool, different AI apps -                        Duplicate code everywhere e.g., Web search tool built for Claude has to be                                   rewritten for ChatGPT, Gemini separatel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Same tool, different AI apps -</a:t>
            </a:r>
            <a:r>
              <a:t> </a:t>
            </a:r>
            <a:br/>
            <a:r>
              <a:t>                      Duplicate code everywhere e.g., Web search tool built for Claude has to be            </a:t>
            </a:r>
            <a:br/>
            <a:r>
              <a:t>                      rewritten for ChatGPT, Gemini separately </a:t>
            </a:r>
          </a:p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Same type of tool has different implementations across teams - </a:t>
            </a:r>
            <a:b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</a:b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                           </a:t>
            </a:r>
            <a:r>
              <a:t>No consistency, no reuse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olution — MC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Solution — MCP</a:t>
            </a:r>
          </a:p>
        </p:txBody>
      </p:sp>
      <p:sp>
        <p:nvSpPr>
          <p:cNvPr id="187" name="One universal standard that solves both layers…"/>
          <p:cNvSpPr txBox="1"/>
          <p:nvPr>
            <p:ph type="body" idx="1"/>
          </p:nvPr>
        </p:nvSpPr>
        <p:spPr>
          <a:xfrm>
            <a:off x="1206500" y="4235242"/>
            <a:ext cx="21971000" cy="8281412"/>
          </a:xfrm>
          <a:prstGeom prst="rect">
            <a:avLst/>
          </a:prstGeom>
        </p:spPr>
        <p:txBody>
          <a:bodyPr/>
          <a:lstStyle/>
          <a:p>
            <a:pPr/>
            <a:r>
              <a:t>One universal standard that solves both layers</a:t>
            </a:r>
          </a:p>
          <a:p>
            <a:pPr/>
            <a:r>
              <a:t>Build a tool once, use it across any AI app</a:t>
            </a:r>
          </a:p>
          <a:p>
            <a:pPr/>
            <a:r>
              <a:t>Consistent implementation, no duplication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What is MC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MCP?</a:t>
            </a:r>
          </a:p>
        </p:txBody>
      </p:sp>
      <p:sp>
        <p:nvSpPr>
          <p:cNvPr id="190" name="An open standard / open source protocol introduced by Anthropic (November 2024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 open standard / open source protocol introduced by Anthropic (November 2024)</a:t>
            </a:r>
          </a:p>
          <a:p>
            <a:pPr/>
            <a:r>
              <a:t>It is like a universal translator between AI models and external tools/data</a:t>
            </a:r>
          </a:p>
          <a:p>
            <a:pPr/>
            <a:r>
              <a:t>Think of it as "USB-C for AI" — one standard plug for everything</a:t>
            </a:r>
          </a:p>
          <a:p>
            <a:pPr/>
            <a:r>
              <a:t>Just like HTTP defines how browsers talk to servers, MCP defines how AI talks to tools</a:t>
            </a:r>
          </a:p>
          <a:p>
            <a:pPr/>
            <a:r>
              <a:t>It removes the need for custom, one-off integrations — build once, use everywhere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is MC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MCP?</a:t>
            </a:r>
          </a:p>
        </p:txBody>
      </p:sp>
      <p:pic>
        <p:nvPicPr>
          <p:cNvPr id="193" name="Screenshot 2026-04-01 at 9.41.08 PM.png" descr="Screenshot 2026-04-01 at 9.41.0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8337" y="3803438"/>
            <a:ext cx="21487326" cy="7422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23475" y="2992252"/>
            <a:ext cx="18673804" cy="9336902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MCP Architecture — How It Wor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MCP Architecture — How It 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cepts of MC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Concepts of MCP</a:t>
            </a:r>
          </a:p>
        </p:txBody>
      </p:sp>
      <p:sp>
        <p:nvSpPr>
          <p:cNvPr id="199" name="MCP Host : The AI application that coordinates and manages one or multiple MCP clients…"/>
          <p:cNvSpPr txBox="1"/>
          <p:nvPr>
            <p:ph type="body" sz="half" idx="1"/>
          </p:nvPr>
        </p:nvSpPr>
        <p:spPr>
          <a:xfrm>
            <a:off x="1206500" y="5424556"/>
            <a:ext cx="21971000" cy="4529782"/>
          </a:xfrm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MCP Host </a:t>
            </a:r>
            <a:r>
              <a:t>: The AI application that coordinates and manages one or multiple MCP clients </a:t>
            </a:r>
          </a:p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MCP Client </a:t>
            </a:r>
            <a:r>
              <a:t>: A component that maintains a connection to an MCP server and obtains context from an MCP server for the MCP host to use </a:t>
            </a:r>
          </a:p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MCP Server </a:t>
            </a:r>
            <a:r>
              <a:t>: A program that provides context to MCP clients</a:t>
            </a:r>
          </a:p>
        </p:txBody>
      </p:sp>
      <p:sp>
        <p:nvSpPr>
          <p:cNvPr id="200" name="1. Participants -  MCP follows a client-server architecture"/>
          <p:cNvSpPr txBox="1"/>
          <p:nvPr/>
        </p:nvSpPr>
        <p:spPr>
          <a:xfrm>
            <a:off x="1235352" y="3417128"/>
            <a:ext cx="1554894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700"/>
            </a:pPr>
            <a:r>
              <a:rPr b="1" u="sng">
                <a:latin typeface="Avenir Next Regular"/>
                <a:ea typeface="Avenir Next Regular"/>
                <a:cs typeface="Avenir Next Regular"/>
                <a:sym typeface="Avenir Next Regular"/>
              </a:rPr>
              <a:t>1. Participants</a:t>
            </a:r>
            <a:r>
              <a:t> -  MCP follows a client-server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ata Layer - Defines the JSON-RPC based protocol for client-server communication       A.  Lifecycle management       B.  Server features       C.  Client features       D.  Utility features…"/>
          <p:cNvSpPr txBox="1"/>
          <p:nvPr>
            <p:ph type="body" idx="1"/>
          </p:nvPr>
        </p:nvSpPr>
        <p:spPr>
          <a:xfrm>
            <a:off x="1206500" y="4643460"/>
            <a:ext cx="21971000" cy="787319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Data Layer</a:t>
            </a:r>
            <a:r>
              <a:t> - Defines the JSON-RPC based protocol for client-server communication</a:t>
            </a:r>
            <a:br/>
            <a:r>
              <a:t>      A.  Lifecycle management</a:t>
            </a:r>
            <a:br/>
            <a:r>
              <a:t>      B.  Server features</a:t>
            </a:r>
            <a:br/>
            <a:r>
              <a:t>      C.  Client features</a:t>
            </a:r>
            <a:br/>
            <a:r>
              <a:t>      D.  Utility features</a:t>
            </a:r>
          </a:p>
          <a:p>
            <a:pPr marL="0" indent="0">
              <a:buSzTx/>
              <a:buNone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Transport Layer</a:t>
            </a:r>
            <a:r>
              <a:t> - Defines the communication mechanisms and channels that enable data exchange between clients and servers</a:t>
            </a:r>
            <a:br/>
            <a:r>
              <a:t>      A.  Stdio transport      </a:t>
            </a:r>
            <a:br/>
            <a:r>
              <a:t>      B.  Streamable HTTP transport</a:t>
            </a:r>
          </a:p>
        </p:txBody>
      </p:sp>
      <p:sp>
        <p:nvSpPr>
          <p:cNvPr id="203" name="Concepts of MCP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Concepts of MCP Architecture </a:t>
            </a:r>
          </a:p>
        </p:txBody>
      </p:sp>
      <p:sp>
        <p:nvSpPr>
          <p:cNvPr id="204" name="2. Layers -  MCP Consist of 2 Layers"/>
          <p:cNvSpPr txBox="1"/>
          <p:nvPr/>
        </p:nvSpPr>
        <p:spPr>
          <a:xfrm>
            <a:off x="1235352" y="3417128"/>
            <a:ext cx="9854515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700"/>
            </a:pPr>
            <a:r>
              <a:rPr b="1" u="sng">
                <a:latin typeface="Avenir Next Regular"/>
                <a:ea typeface="Avenir Next Regular"/>
                <a:cs typeface="Avenir Next Regular"/>
                <a:sym typeface="Avenir Next Regular"/>
              </a:rPr>
              <a:t>2. Layers</a:t>
            </a:r>
            <a:r>
              <a:t> -  MCP Consist of 2 Layers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Lifecycle Manag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Lifecycle Management</a:t>
            </a:r>
          </a:p>
        </p:txBody>
      </p:sp>
      <p:sp>
        <p:nvSpPr>
          <p:cNvPr id="207" name="The Model Context Protocol (MCP) defines a rigorous lifecycle for client-server connections that ensures proper capability negotiation and state management.…"/>
          <p:cNvSpPr txBox="1"/>
          <p:nvPr>
            <p:ph type="body" sz="half" idx="1"/>
          </p:nvPr>
        </p:nvSpPr>
        <p:spPr>
          <a:xfrm>
            <a:off x="994631" y="3054930"/>
            <a:ext cx="13796095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The Model Context Protocol (MCP) defines a rigorous lifecycle for client-server connections that ensures proper capability negotiation and state management. </a:t>
            </a:r>
          </a:p>
          <a:p>
            <a:pPr marL="0" indent="0">
              <a:buSzTx/>
              <a:buNone/>
            </a:pPr>
            <a:r>
              <a:t>1.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Initialization</a:t>
            </a:r>
            <a:r>
              <a:t>: Capability negotiation and protocol version agreement </a:t>
            </a:r>
          </a:p>
          <a:p>
            <a:pPr marL="0" indent="0">
              <a:buSzTx/>
              <a:buNone/>
            </a:pPr>
            <a:r>
              <a:t>2.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Operation</a:t>
            </a:r>
            <a:r>
              <a:t>: Normal protocol communication </a:t>
            </a:r>
          </a:p>
          <a:p>
            <a:pPr marL="0" indent="0">
              <a:buSzTx/>
              <a:buNone/>
            </a:pPr>
            <a:r>
              <a:t>3.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Shutdown</a:t>
            </a:r>
            <a:r>
              <a:t>: Graceful termination of the connection</a:t>
            </a:r>
          </a:p>
        </p:txBody>
      </p:sp>
      <p:pic>
        <p:nvPicPr>
          <p:cNvPr id="208" name="Screenshot 2026-04-01 at 11.41.56 PM.png" descr="Screenshot 2026-04-01 at 11.41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81490" y="301238"/>
            <a:ext cx="8101861" cy="131135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rimi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Primitives</a:t>
            </a:r>
          </a:p>
        </p:txBody>
      </p:sp>
      <p:sp>
        <p:nvSpPr>
          <p:cNvPr id="211" name="MCP primitives are the most important concept within MCP.  They define what clients and servers can offer each other.…"/>
          <p:cNvSpPr txBox="1"/>
          <p:nvPr>
            <p:ph type="body" idx="1"/>
          </p:nvPr>
        </p:nvSpPr>
        <p:spPr>
          <a:xfrm>
            <a:off x="1206500" y="2667761"/>
            <a:ext cx="21971000" cy="9848893"/>
          </a:xfrm>
          <a:prstGeom prst="rect">
            <a:avLst/>
          </a:prstGeom>
        </p:spPr>
        <p:txBody>
          <a:bodyPr/>
          <a:lstStyle/>
          <a:p>
            <a:pPr/>
            <a:r>
              <a:t>MCP primitives are the most important concept within MCP.  They define what clients and servers can offer each other.</a:t>
            </a:r>
          </a:p>
          <a:p>
            <a:pPr/>
            <a:r>
              <a:t>MCP defines three core primitives that servers can expose :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Tools</a:t>
            </a:r>
            <a:r>
              <a:t>: Executable functions that AI applications can invoke to perform actions (e.g., file              </a:t>
            </a:r>
            <a:br/>
            <a:r>
              <a:t>                  operations, API calls, database queries)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Resources</a:t>
            </a:r>
            <a:r>
              <a:t>: Data sources that provide contextual information to AI applications (e.g., file       </a:t>
            </a:r>
            <a:br/>
            <a:r>
              <a:t>                  contents, database records, API responses)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Prompts</a:t>
            </a:r>
            <a:r>
              <a:t>: Reusable templates that help structure interactions with language models    </a:t>
            </a:r>
            <a:br/>
            <a:r>
              <a:t>                  (e.g., system prompts, few-shot examples)</a:t>
            </a:r>
            <a:br/>
            <a:r>
              <a:t>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rimi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Primitives</a:t>
            </a:r>
          </a:p>
        </p:txBody>
      </p:sp>
      <p:sp>
        <p:nvSpPr>
          <p:cNvPr id="214" name="MCP also defines primitives that client can expose:         Roots: Roots define the boundaries of where servers can operate within the filesystem,                     allowing them to understand which directories and files they have access to.        Sam"/>
          <p:cNvSpPr txBox="1"/>
          <p:nvPr>
            <p:ph type="body" idx="1"/>
          </p:nvPr>
        </p:nvSpPr>
        <p:spPr>
          <a:xfrm>
            <a:off x="1206500" y="2667761"/>
            <a:ext cx="21971000" cy="9848893"/>
          </a:xfrm>
          <a:prstGeom prst="rect">
            <a:avLst/>
          </a:prstGeom>
        </p:spPr>
        <p:txBody>
          <a:bodyPr/>
          <a:lstStyle/>
          <a:p>
            <a:pPr/>
            <a:r>
              <a:t>MCP also defines primitives that client can expose: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Roots</a:t>
            </a:r>
            <a:r>
              <a:t>: Roots define the boundaries of where servers can operate within the filesystem, </a:t>
            </a:r>
            <a:br/>
            <a:r>
              <a:t>                   allowing them to understand which directories and files they have access to.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Sampling</a:t>
            </a:r>
            <a:r>
              <a:t>: Allows servers to request language model completions from the client’s AI </a:t>
            </a:r>
            <a:br/>
            <a:r>
              <a:t>                   application.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Elicitation</a:t>
            </a:r>
            <a:r>
              <a:t>: Allows servers to request additional information from users. This is useful </a:t>
            </a:r>
            <a:br/>
            <a:r>
              <a:t>                   when server authors want to get more information from the user, or ask for </a:t>
            </a:r>
            <a:br/>
            <a:r>
              <a:t>                   confirmation of an action. 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rimi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Primitives</a:t>
            </a:r>
          </a:p>
        </p:txBody>
      </p:sp>
      <p:sp>
        <p:nvSpPr>
          <p:cNvPr id="217" name="MCP also defines utilities primitives that client  or server can expose:         Notifications: The protocol supports real-time notifications to enable dynamic updates                   between servers and clients.        Ping: The Model Context Protocol"/>
          <p:cNvSpPr txBox="1"/>
          <p:nvPr>
            <p:ph type="body" idx="1"/>
          </p:nvPr>
        </p:nvSpPr>
        <p:spPr>
          <a:xfrm>
            <a:off x="1206500" y="2667761"/>
            <a:ext cx="21971000" cy="9848893"/>
          </a:xfrm>
          <a:prstGeom prst="rect">
            <a:avLst/>
          </a:prstGeom>
        </p:spPr>
        <p:txBody>
          <a:bodyPr/>
          <a:lstStyle/>
          <a:p>
            <a:pPr/>
            <a:r>
              <a:t>MCP also defines utilities primitives that client  or server can expose: 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Notifications</a:t>
            </a:r>
            <a:r>
              <a:t>: The protocol supports real-time notifications to enable dynamic updates </a:t>
            </a:r>
            <a:br/>
            <a:r>
              <a:t>                 between servers and clients.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Ping</a:t>
            </a:r>
            <a:r>
              <a:t>: The Model Context Protocol includes an optional ping mechanism that allows               </a:t>
            </a:r>
            <a:br/>
            <a:r>
              <a:t>                 either party to verify that their counterpart is still responsive and the connection is </a:t>
            </a:r>
            <a:br/>
            <a:r>
              <a:t>                 alive.</a:t>
            </a:r>
            <a:br/>
            <a:br/>
            <a:r>
              <a:t>     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Logging</a:t>
            </a:r>
            <a:r>
              <a:t>: The Model Context Protocol (MCP) provides a standardized way for servers to </a:t>
            </a:r>
            <a:br/>
            <a:r>
              <a:t>                 send structured log messages to clients.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15940" y="-363383"/>
            <a:ext cx="12352120" cy="148911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Screenshot 2026-04-02 at 12.46.51 AM.png" descr="Screenshot 2026-04-02 at 12.46.51 AM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0755" y="2248959"/>
            <a:ext cx="9610259" cy="249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Screenshot 2026-04-02 at 12.48.58 AM.png" descr="Screenshot 2026-04-02 at 12.48.58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19315" y="2249896"/>
            <a:ext cx="9725400" cy="4708008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Initialization"/>
          <p:cNvSpPr txBox="1"/>
          <p:nvPr>
            <p:ph type="title"/>
          </p:nvPr>
        </p:nvSpPr>
        <p:spPr>
          <a:xfrm>
            <a:off x="1206500" y="450796"/>
            <a:ext cx="21971000" cy="1689101"/>
          </a:xfrm>
          <a:prstGeom prst="rect">
            <a:avLst/>
          </a:prstGeom>
        </p:spPr>
        <p:txBody>
          <a:bodyPr/>
          <a:lstStyle/>
          <a:p>
            <a:pPr/>
            <a:r>
              <a:t>Initialization</a:t>
            </a:r>
          </a:p>
        </p:txBody>
      </p:sp>
      <p:sp>
        <p:nvSpPr>
          <p:cNvPr id="224" name="1"/>
          <p:cNvSpPr/>
          <p:nvPr/>
        </p:nvSpPr>
        <p:spPr>
          <a:xfrm>
            <a:off x="1023915" y="2007599"/>
            <a:ext cx="723505" cy="703627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5" name="2"/>
          <p:cNvSpPr/>
          <p:nvPr/>
        </p:nvSpPr>
        <p:spPr>
          <a:xfrm>
            <a:off x="13018003" y="2007599"/>
            <a:ext cx="723506" cy="703627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226" name="Screenshot 2026-04-02 at 12.51.17 AM.png" descr="Screenshot 2026-04-02 at 12.51.17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3219" y="5441143"/>
            <a:ext cx="9725400" cy="4748992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3"/>
          <p:cNvSpPr/>
          <p:nvPr/>
        </p:nvSpPr>
        <p:spPr>
          <a:xfrm>
            <a:off x="1023915" y="5220015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228" name="Screenshot 2026-04-02 at 12.51.52 AM.png" descr="Screenshot 2026-04-02 at 12.51.52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219315" y="7621432"/>
            <a:ext cx="9725400" cy="2921623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4"/>
          <p:cNvSpPr/>
          <p:nvPr/>
        </p:nvSpPr>
        <p:spPr>
          <a:xfrm>
            <a:off x="13018003" y="7463825"/>
            <a:ext cx="723506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230" name="Screenshot 2026-04-02 at 12.52.32 AM.png" descr="Screenshot 2026-04-02 at 12.52.32 A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73219" y="10550156"/>
            <a:ext cx="9725400" cy="2986223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5"/>
          <p:cNvSpPr/>
          <p:nvPr/>
        </p:nvSpPr>
        <p:spPr>
          <a:xfrm>
            <a:off x="1023915" y="10366573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ool Discove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Tool Discovery</a:t>
            </a:r>
          </a:p>
        </p:txBody>
      </p:sp>
      <p:pic>
        <p:nvPicPr>
          <p:cNvPr id="234" name="Screenshot 2026-04-02 at 12.53.19 AM.png" descr="Screenshot 2026-04-02 at 12.53.1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9200" y="2862981"/>
            <a:ext cx="10152500" cy="2587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Screenshot 2026-04-02 at 12.53.59 AM.png" descr="Screenshot 2026-04-02 at 12.53.5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63557" y="2862981"/>
            <a:ext cx="10235796" cy="2587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Screenshot 2026-04-02 at 12.55.13 AM.png" descr="Screenshot 2026-04-02 at 12.55.13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95238" y="5723594"/>
            <a:ext cx="10220425" cy="7192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Screenshot 2026-04-02 at 12.56.13 AM.png" descr="Screenshot 2026-04-02 at 12.56.13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471242" y="5691147"/>
            <a:ext cx="10220425" cy="2835118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1"/>
          <p:cNvSpPr/>
          <p:nvPr/>
        </p:nvSpPr>
        <p:spPr>
          <a:xfrm>
            <a:off x="1092991" y="2470488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" name="2"/>
          <p:cNvSpPr/>
          <p:nvPr/>
        </p:nvSpPr>
        <p:spPr>
          <a:xfrm>
            <a:off x="12226178" y="2470488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0" name="3"/>
          <p:cNvSpPr/>
          <p:nvPr/>
        </p:nvSpPr>
        <p:spPr>
          <a:xfrm>
            <a:off x="1092991" y="5521726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1" name="4"/>
          <p:cNvSpPr/>
          <p:nvPr/>
        </p:nvSpPr>
        <p:spPr>
          <a:xfrm>
            <a:off x="12226178" y="5521726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ool Exec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Tool Execution</a:t>
            </a:r>
          </a:p>
        </p:txBody>
      </p:sp>
      <p:pic>
        <p:nvPicPr>
          <p:cNvPr id="244" name="Screenshot 2026-04-02 at 1.02.53 AM.png" descr="Screenshot 2026-04-02 at 1.02.5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5329" y="2284920"/>
            <a:ext cx="10310602" cy="3477854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1"/>
          <p:cNvSpPr/>
          <p:nvPr/>
        </p:nvSpPr>
        <p:spPr>
          <a:xfrm>
            <a:off x="851583" y="2102800"/>
            <a:ext cx="723505" cy="703627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246" name="Screenshot 2026-04-02 at 1.03.59 AM.png" descr="Screenshot 2026-04-02 at 1.03.5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12647" y="2250328"/>
            <a:ext cx="10220449" cy="4196131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2"/>
          <p:cNvSpPr/>
          <p:nvPr/>
        </p:nvSpPr>
        <p:spPr>
          <a:xfrm>
            <a:off x="12353178" y="2102800"/>
            <a:ext cx="723505" cy="703627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248" name="Screenshot 2026-04-02 at 1.04.45 AM.png" descr="Screenshot 2026-04-02 at 1.04.45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88511" y="6839247"/>
            <a:ext cx="10324238" cy="427088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3"/>
          <p:cNvSpPr/>
          <p:nvPr/>
        </p:nvSpPr>
        <p:spPr>
          <a:xfrm>
            <a:off x="851583" y="6506186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250" name="Screenshot 2026-04-02 at 1.05.16 AM.png" descr="Screenshot 2026-04-02 at 1.05.16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629358" y="6894966"/>
            <a:ext cx="10187027" cy="3314273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4"/>
          <p:cNvSpPr/>
          <p:nvPr/>
        </p:nvSpPr>
        <p:spPr>
          <a:xfrm>
            <a:off x="12353178" y="6736441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Notif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Notification</a:t>
            </a:r>
          </a:p>
        </p:txBody>
      </p:sp>
      <p:pic>
        <p:nvPicPr>
          <p:cNvPr id="254" name="Screenshot 2026-04-02 at 1.06.54 AM.png" descr="Screenshot 2026-04-02 at 1.06.5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9987" y="2814956"/>
            <a:ext cx="10011803" cy="3360245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1"/>
          <p:cNvSpPr/>
          <p:nvPr/>
        </p:nvSpPr>
        <p:spPr>
          <a:xfrm>
            <a:off x="1035787" y="2470488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256" name="Screenshot 2026-04-02 at 1.07.29 AM.png" descr="Screenshot 2026-04-02 at 1.07.2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71926" y="2836219"/>
            <a:ext cx="10119020" cy="2707663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2"/>
          <p:cNvSpPr/>
          <p:nvPr/>
        </p:nvSpPr>
        <p:spPr>
          <a:xfrm>
            <a:off x="11593337" y="2470488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258" name="Screenshot 2026-04-02 at 1.08.01 AM.png" descr="Screenshot 2026-04-02 at 1.08.01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02433" y="6666056"/>
            <a:ext cx="10119020" cy="326420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3"/>
          <p:cNvSpPr/>
          <p:nvPr/>
        </p:nvSpPr>
        <p:spPr>
          <a:xfrm>
            <a:off x="1035787" y="6506186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260" name="Screenshot 2026-04-02 at 1.08.34 AM.png" descr="Screenshot 2026-04-02 at 1.08.34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971926" y="6056000"/>
            <a:ext cx="10119020" cy="3436978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4"/>
          <p:cNvSpPr/>
          <p:nvPr/>
        </p:nvSpPr>
        <p:spPr>
          <a:xfrm>
            <a:off x="11593337" y="5758217"/>
            <a:ext cx="723505" cy="703628"/>
          </a:xfrm>
          <a:prstGeom prst="ellipse">
            <a:avLst/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ecurity &amp; Trust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Security &amp; Trust Model</a:t>
            </a:r>
          </a:p>
        </p:txBody>
      </p:sp>
      <p:sp>
        <p:nvSpPr>
          <p:cNvPr id="264" name="MCP servers run with explicit user permiss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MCP servers run with explicit user permission </a:t>
            </a:r>
          </a:p>
          <a:p>
            <a:pPr/>
            <a:r>
              <a:t>AI cannot call a tool unless it is explicitly exposed by a server </a:t>
            </a:r>
          </a:p>
          <a:p>
            <a:pPr/>
            <a:r>
              <a:t>Supports OAuth and authentication for remote servers </a:t>
            </a:r>
          </a:p>
          <a:p>
            <a:pPr/>
            <a:r>
              <a:t>Users stay in control — MCP is not a backdoor </a:t>
            </a:r>
          </a:p>
          <a:p>
            <a:pPr/>
            <a:r>
              <a:t>Sandboxed, auditable, and transparent by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umm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267" name="MCP is a universal open standard for AI-to-tool connectivit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MCP is a universal open standard for AI-to-tool connectivity</a:t>
            </a:r>
          </a:p>
          <a:p>
            <a:pPr/>
            <a:r>
              <a:t>Built on 3 Main Concepts: Host → Client → Server</a:t>
            </a:r>
          </a:p>
          <a:p>
            <a:pPr/>
            <a:r>
              <a:t>Already widely adopted and growing fast</a:t>
            </a:r>
          </a:p>
          <a:p>
            <a:pPr/>
            <a:r>
              <a:t>It's the infrastructure layer that makes AI agents possible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hank You"/>
          <p:cNvSpPr txBox="1"/>
          <p:nvPr>
            <p:ph type="title"/>
          </p:nvPr>
        </p:nvSpPr>
        <p:spPr>
          <a:xfrm>
            <a:off x="8739884" y="6266730"/>
            <a:ext cx="10799588" cy="1689101"/>
          </a:xfrm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270" name="&quot;MCP is to AI agents what HTTP is to the internet.&quot;       The protocol that makes everything connect."/>
          <p:cNvSpPr txBox="1"/>
          <p:nvPr>
            <p:ph type="body" sz="quarter" idx="1"/>
          </p:nvPr>
        </p:nvSpPr>
        <p:spPr>
          <a:xfrm>
            <a:off x="6797648" y="2856087"/>
            <a:ext cx="11595317" cy="333440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"MCP is to AI agents what HTTP is to the internet." </a:t>
            </a:r>
            <a:br/>
            <a:r>
              <a:t>     </a:t>
            </a:r>
            <a:r>
              <a:rPr i="1">
                <a:latin typeface="Avenir Next Regular"/>
                <a:ea typeface="Avenir Next Regular"/>
                <a:cs typeface="Avenir Next Regular"/>
                <a:sym typeface="Avenir Next Regular"/>
              </a:rPr>
              <a:t>The protocol that makes everything connect.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5_DynamicWavesDark">
  <a:themeElements>
    <a:clrScheme name="35_DynamicWavesDark">
      <a:dk1>
        <a:srgbClr val="FF0000"/>
      </a:dk1>
      <a:lt1>
        <a:srgbClr val="FFFFFF"/>
      </a:lt1>
      <a:dk2>
        <a:srgbClr val="53585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5_DynamicWaves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5_DynamicWaves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5_DynamicWavesDark">
  <a:themeElements>
    <a:clrScheme name="35_DynamicWavesDark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5_DynamicWaves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5_DynamicWaves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